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16AD1-FD8B-49DA-BAC2-29A1B7E0E70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3DB34-2AE2-4CB2-B188-27BA251C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114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3DB34-2AE2-4CB2-B188-27BA251C612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055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9D7E-3CFF-C18E-9E36-EBACF558A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4A7DF-90AE-4571-298C-B3B90E55C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E1E1C-C568-67D5-2614-05BCCFB1E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7A05F-8C63-D175-A37A-D54320C2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0258-B303-4685-4A5E-0BF81FA2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94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610B-1EA1-9D05-CBB4-670ED56F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B702-5D61-9006-B92A-0892E3EA6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D5D7-8C03-41B6-8496-C1B2CC0E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2C55-03F4-B59B-B43F-AB7F882D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2FF89-9DD5-4CEC-895C-0C30DBD3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441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1A95-5875-7662-FAF3-E92C50BF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E372D-AE01-BE70-7B2A-36A192B12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1D4F-C507-2265-6F55-E648ED38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5ECDD-EB23-E866-CFB7-61727202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A830D-F777-4B64-E107-54ACA511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341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0BF2-F9B4-FA1D-A50C-97954C4F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E7FBB-DCF8-3BA7-EEEB-19EB9C847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24D1D-BC22-285B-A158-6549F8D4A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42527-87AC-E85F-D9A0-669A9407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C9677-7D8A-2971-29D7-3BF3CC3D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E42CF-B779-C582-8ECD-CA636559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921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70EA-F6BD-21FF-9DF9-626FEFB0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12243-52A3-193A-44E5-5E6FACEBC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229FC-1E11-1105-7A1C-CDFF7CCFD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6EB48-9455-3525-EBED-D89BF10D6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18754-F097-F562-6D40-C6BDEF39D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AF2A-F3CD-BDFB-2AAF-7CBBA16A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3FBC0-4D31-27A4-D1F4-6DFD3E1C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72523-9DD2-FEFC-9124-00858240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1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3551-F379-F524-A8A0-9CEA0304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37E3F-2CAE-4A62-F945-C187355B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9F7CA-8E55-438B-6606-4B8C4BF72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F1947-BA0F-C607-997E-BEA4EDBA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9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4D47D-7FB6-CC31-0F05-24556E8E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70B8A-A421-6340-E71D-414E6ADD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7F6B8-A46D-3575-DDD7-763200C3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57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F949-B5D0-4412-6892-D73394F4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136B-3549-6189-F8F3-878087F5D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5EA8F-9AAC-864F-A550-C9A315493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2FF57-4564-1B6F-D898-F9E39C1A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CDB8-5AEC-91F4-5535-21072A77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59B4A-C402-3252-3E47-B96A7AD3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09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4274-8F1D-8D8A-C9E2-26956DE9C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33A54-1A4D-D52F-8560-49A215CA8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9ED9F-1ED6-A9A1-60FC-0DCAD9444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FCD6D-BE93-8F28-C54E-133A8106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732CD-AF51-9407-16D5-1BE0EB45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9B9E-9D29-9E7F-0317-36907BCD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823D-B637-7D8B-62EF-02906581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BBA6D-7EFB-989B-ED0F-D53F50A79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BA1D9-9DAA-8296-35BE-8BE38AEEF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F4DB5-FA27-71BC-0D63-03ADA4156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5AE09-0B61-A308-3E82-E0CF2988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13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79182-2EE6-B1F3-20B9-7A411E9D9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53FE1-C669-5941-C767-8DDAE5006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B4EC9-51AA-CEAD-1421-DDC8EF03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19026-E867-51C7-44A3-F32E4500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3093-DB6D-DAD4-CE53-755E5EBF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29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28533-24CB-FC67-4038-CB5BAD63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6E622-CB92-127D-08FB-BED9EC815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F6BB-DE6A-8E2F-327B-E1084C781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3C35E-58AF-4116-AD50-54767BC7474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052D4-2543-3924-1FE9-6EE3D27F3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B9075-CC54-31B5-0A63-6C973124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69CB4-C11B-4C14-90F4-5992DAC06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564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viewquery.com/p/real-estate-data-science-projects" TargetMode="External"/><Relationship Id="rId2" Type="http://schemas.openxmlformats.org/officeDocument/2006/relationships/hyperlink" Target="https://builtin.com/articles/feature-engineeri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0fT-bqvHD2w" TargetMode="External"/><Relationship Id="rId5" Type="http://schemas.openxmlformats.org/officeDocument/2006/relationships/hyperlink" Target="https://www.youtube.com/watch?v=VgZZP8rAS-c" TargetMode="External"/><Relationship Id="rId4" Type="http://schemas.openxmlformats.org/officeDocument/2006/relationships/hyperlink" Target="https://www.youtube.com/watch?v=1JXrxCJoHuw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2D7B-6B47-F145-9D0B-51C6E8C03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299" y="1019175"/>
            <a:ext cx="6489700" cy="1316037"/>
          </a:xfrm>
        </p:spPr>
        <p:txBody>
          <a:bodyPr>
            <a:normAutofit/>
          </a:bodyPr>
          <a:lstStyle/>
          <a:p>
            <a:r>
              <a:rPr lang="en-US" sz="4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Solutions </a:t>
            </a:r>
            <a:b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3</a:t>
            </a:r>
            <a:endParaRPr lang="en-IN" sz="4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84313-6C05-E481-63E1-8DD58BBBE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7150" y="5130349"/>
            <a:ext cx="3244850" cy="56356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Roshan Borde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58B91-8318-FFE1-2613-A4A33B5B50C3}"/>
              </a:ext>
            </a:extLst>
          </p:cNvPr>
          <p:cNvSpPr txBox="1"/>
          <p:nvPr/>
        </p:nvSpPr>
        <p:spPr>
          <a:xfrm>
            <a:off x="5829300" y="2967335"/>
            <a:ext cx="6489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for Real Estate Pricing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1F1E5-5894-57F0-8394-A29746567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5500"/>
            <a:ext cx="6096000" cy="69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04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FEC890-30E3-C67D-2BEB-6DD4288E4490}"/>
              </a:ext>
            </a:extLst>
          </p:cNvPr>
          <p:cNvSpPr txBox="1"/>
          <p:nvPr/>
        </p:nvSpPr>
        <p:spPr>
          <a:xfrm>
            <a:off x="568961" y="1333742"/>
            <a:ext cx="110947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based on Real Estate companies' historical data.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analyze historical home sales data to uncover key insights about price trends, influencing factors, and buyer preferences based on amenities. By leveraging statistical analysis and visualizations, I assess: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trends &amp; historical pricing to understand fluctuations in property values based on Sale price, Year sold etc.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 for amenities such as living space, garages, outdoor features, and modern upgrades.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home quality, size, and location on property prices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A6825-5040-3287-639A-39BA5719E68C}"/>
              </a:ext>
            </a:extLst>
          </p:cNvPr>
          <p:cNvSpPr txBox="1"/>
          <p:nvPr/>
        </p:nvSpPr>
        <p:spPr>
          <a:xfrm>
            <a:off x="1788253" y="503015"/>
            <a:ext cx="86154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Pricing: Unveiling the Dynamics of House Valuation in a Dynamic Market 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86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7C7665-BA58-92F4-AF15-FAE553AF5FA6}"/>
              </a:ext>
            </a:extLst>
          </p:cNvPr>
          <p:cNvSpPr txBox="1"/>
          <p:nvPr/>
        </p:nvSpPr>
        <p:spPr>
          <a:xfrm>
            <a:off x="680720" y="586998"/>
            <a:ext cx="10911840" cy="519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Trends: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Homes Sell for More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OverallQual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strongest positive correlation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that better construction and finishes drive higher property values.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Homes Command Higher Prices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Properties with bigger living areas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GrLivArea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basements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TotalBsmtSF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garages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GarageCars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consistently have higher sale prices.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Homes &amp; Renovations Attract Buyers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Newer homes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YearBuilt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recently renovated ones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YearRemodAdd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sell at premium prices due to updated designs and energy-efficient features.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Outdoor &amp; Comfort Features Add 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Amenities like decks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WoodDeckSF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porches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OpenPorchSF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fireplaces (Fireplaces) positively influence home prices by improving lifestyle appeal.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Trends &amp; Seasonal Impact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prices fluctuate over time, showing an upward trend in high-demand periods.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 plays a role—homes tend to sell for more in spring and summer compared to winter.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91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DD41E0-B722-7488-E533-B9B5BE9BCDE8}"/>
              </a:ext>
            </a:extLst>
          </p:cNvPr>
          <p:cNvSpPr txBox="1"/>
          <p:nvPr/>
        </p:nvSpPr>
        <p:spPr>
          <a:xfrm>
            <a:off x="688340" y="523666"/>
            <a:ext cx="10894060" cy="478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Overall Quality &amp; Larger Living Space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Higher sale price homes with better construction quality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OverallQual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spacious interiors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GrLivArea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TotalBsmtSF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command significantly higher prices. Buyers prioritize well-designed, open floor plans and ample living space over outdated, cramped layouts.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Renovated Homes &amp; Newer Constructions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Higher demand &amp; better resale value properties with recent renovations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YearRemodAdd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newer builds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YearBuilt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more attractive to buyers. Modernized homes with energy-efficient features, updated kitchens, and smart home technology fetch higher resale prices.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Well-Maintained Garages, Outdoor Spaces, &amp; Extra Rooms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pricing advantage homes with larger garages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GarageCars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decks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WoodDeckSF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porches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OpenPorchSF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more desirable. Additional rooms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TotRmsAbvGrd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especially full bathrooms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FullBath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add functional value and increase the likelihood of a higher sale price.</a:t>
            </a:r>
          </a:p>
        </p:txBody>
      </p:sp>
    </p:spTree>
    <p:extLst>
      <p:ext uri="{BB962C8B-B14F-4D97-AF65-F5344CB8AC3E}">
        <p14:creationId xmlns:p14="http://schemas.microsoft.com/office/powerpoint/2010/main" val="276641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50C818-E435-A176-1795-555E6AA99A8D}"/>
              </a:ext>
            </a:extLst>
          </p:cNvPr>
          <p:cNvSpPr txBox="1"/>
          <p:nvPr/>
        </p:nvSpPr>
        <p:spPr>
          <a:xfrm>
            <a:off x="487680" y="284802"/>
            <a:ext cx="1120648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 Size Has a Weaker Impact Than Expected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Location &amp; Home Features Matter More, Although larger lots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LotFrontage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slightly correlate with higher prices, buyers prioritize location, home quality, and amenities over just land size. Properties in prime locations with better neighborhood facilities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MSZoning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hold greater value.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 Affects Pricing &amp; Sales Trends: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Homes sold in spring and summer tend to have higher prices due to increased demand. Winter sales often come with discounts, making it a buyer’s market.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Garage &amp; Basement Space Adds Significant Value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Finished basements (BsmtFinSF1) and extra storage in garages and basements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TotalBsmtSF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positively impact home prices. Buyers see these spaces as added functionality rather than just extra square footage.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Fireplaces &amp; Unique Features Drive Buyer Interest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Homes with fireplaces (Fireplaces) and unique architectural features attract buyers seeking premium, cozy living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spaces.Such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help homes stand out in competitive markets and justify higher pricing.</a:t>
            </a:r>
          </a:p>
        </p:txBody>
      </p:sp>
    </p:spTree>
    <p:extLst>
      <p:ext uri="{BB962C8B-B14F-4D97-AF65-F5344CB8AC3E}">
        <p14:creationId xmlns:p14="http://schemas.microsoft.com/office/powerpoint/2010/main" val="28081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425567-B7EE-79F9-7319-C8DF546E6458}"/>
              </a:ext>
            </a:extLst>
          </p:cNvPr>
          <p:cNvSpPr txBox="1"/>
          <p:nvPr/>
        </p:nvSpPr>
        <p:spPr>
          <a:xfrm>
            <a:off x="629920" y="346055"/>
            <a:ext cx="1093216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premium materials and focus on modern upgrades like energy-efficient appliances, smart home features, and contemporary interiors to attract high-value buyers.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properties emphasizing open floor plans, larger living spaces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GrLivArea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finished basements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TotalBsmtSF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appeal to buyers looking for comfort and usability.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garages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GarageCars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decks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WoodDeckSF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porches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OpenPorchSF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make properties more desirable and increase overall value.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pricing and sales strategies based on seasonal demand, selling during peak times (spring &amp; summer) for maximum profit.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properties in high-demand areas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MSZoning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access to good schools, shopping centers, and public transport, as location significantly impacts pricing.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pricing trends and customer preferences to set competitive prices and target marketing efforts effectively.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1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087BE-11EA-8A14-D145-81ED2FEE76BD}"/>
              </a:ext>
            </a:extLst>
          </p:cNvPr>
          <p:cNvSpPr txBox="1"/>
          <p:nvPr/>
        </p:nvSpPr>
        <p:spPr>
          <a:xfrm>
            <a:off x="660400" y="406890"/>
            <a:ext cx="10871200" cy="6044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Address them:</a:t>
            </a:r>
          </a:p>
          <a:p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&amp; Inconsistent Data: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contained large number of missing value in some columns like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MasVnrType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Electrical,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GarageYrBlt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 along with the inconsistent 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(categorical vs. numerical) needed preprocessing for effective analysis.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handing the missing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has been used to filled with median value and 'Alley' Column 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dataset because it contained more then 93% null or missing values. For inconsistent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(categorical vs. numerical)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OrdinalEncoder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to effective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Outliers: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about 99% of numerical data from the dataset was containing outliers, without handling the outliers it was difficult to analysis the data.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IQR(Inter Quartile Range) Method is used to calculate outliers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Lower Value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Upper Value.</a:t>
            </a:r>
          </a:p>
        </p:txBody>
      </p:sp>
    </p:spTree>
    <p:extLst>
      <p:ext uri="{BB962C8B-B14F-4D97-AF65-F5344CB8AC3E}">
        <p14:creationId xmlns:p14="http://schemas.microsoft.com/office/powerpoint/2010/main" val="393236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8CB584-DF67-5DE4-37EE-37AB2B8F8BAA}"/>
              </a:ext>
            </a:extLst>
          </p:cNvPr>
          <p:cNvSpPr txBox="1"/>
          <p:nvPr/>
        </p:nvSpPr>
        <p:spPr>
          <a:xfrm>
            <a:off x="650240" y="501134"/>
            <a:ext cx="108915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Address them:</a:t>
            </a:r>
          </a:p>
          <a:p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features were highly correlated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some of the feature had not that much impactful for sales prices. So, it was a difficult to identify such feature for better analysis.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By analyzing the relationship between various features and Sales price, here multiple plot techniques have been used like line plot, scatter plot,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heatmap.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 large dataset: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 large dataset with multiple features required efficient data processing to avoid slow computations.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Feature Engineering has been used to reduce number columns from 83 to 37 for better analysis.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71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1801BB-7A60-4718-3684-E9C1CBD09DED}"/>
              </a:ext>
            </a:extLst>
          </p:cNvPr>
          <p:cNvSpPr txBox="1"/>
          <p:nvPr/>
        </p:nvSpPr>
        <p:spPr>
          <a:xfrm>
            <a:off x="782320" y="280083"/>
            <a:ext cx="266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B40C0-769E-5FE1-A4CC-7F023B628BA7}"/>
              </a:ext>
            </a:extLst>
          </p:cNvPr>
          <p:cNvSpPr txBox="1"/>
          <p:nvPr/>
        </p:nvSpPr>
        <p:spPr>
          <a:xfrm>
            <a:off x="624840" y="883393"/>
            <a:ext cx="1094232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Premium Home Packages for High-Value Features: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selling standard homes, create customized upgrade packages focusing on highly valued features (e.g., premium flooring, smart home tech, luxury kitchens).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Target-Specific Buyer Segments Based on Preferences: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buyers may prioritize modern amenities (smart homes, open floor plans, energy efficiency), while older buyers may value traditional layouts and larger outdoor spaces.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Capitalize on Garage &amp; Storage Space Demand: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garage size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GarageCars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GarageArea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storage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TotalBsmtSF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significantly impact sale price, consider offering convertible spaces (e.g., home gyms, EV charging stations, extra storage solutions).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Flexible Floor Plans with Multi-Use Spaces: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company should design homes with modular or adaptable spaces to cater to evolving lifestyle needs.</a:t>
            </a:r>
          </a:p>
        </p:txBody>
      </p:sp>
    </p:spTree>
    <p:extLst>
      <p:ext uri="{BB962C8B-B14F-4D97-AF65-F5344CB8AC3E}">
        <p14:creationId xmlns:p14="http://schemas.microsoft.com/office/powerpoint/2010/main" val="209581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90FEC4-8EB4-369E-2648-E672B0A82115}"/>
              </a:ext>
            </a:extLst>
          </p:cNvPr>
          <p:cNvSpPr txBox="1"/>
          <p:nvPr/>
        </p:nvSpPr>
        <p:spPr>
          <a:xfrm>
            <a:off x="563880" y="450334"/>
            <a:ext cx="11064240" cy="327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Neighborhood Development Over Lot Size: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a weaker correlation with Sale Price, focus more on improving nearby infrastructure, amenities, and neighborhood appeal rather than just selling larger lots.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Renovation: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Homes with modern renovations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YearRemodAdd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sell at higher prices, so offer pre-sale renovation services to homeowners looking to list their properties.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656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4B4C26-B3C6-6346-2BC1-23DF19ABB5D0}"/>
              </a:ext>
            </a:extLst>
          </p:cNvPr>
          <p:cNvSpPr txBox="1"/>
          <p:nvPr/>
        </p:nvSpPr>
        <p:spPr>
          <a:xfrm>
            <a:off x="497840" y="558800"/>
            <a:ext cx="1104392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7B809A"/>
                </a:solidFill>
                <a:effectLst/>
                <a:latin typeface="Roboto" panose="02000000000000000000" pitchFamily="2" charset="0"/>
                <a:hlinkClick r:id="rId2"/>
              </a:rPr>
              <a:t>https://builtin.com/articles/feature-engineering</a:t>
            </a:r>
            <a:endParaRPr lang="en-IN" dirty="0">
              <a:solidFill>
                <a:srgbClr val="7B809A"/>
              </a:solidFill>
              <a:latin typeface="Roboto" panose="02000000000000000000" pitchFamily="2" charset="0"/>
            </a:endParaRPr>
          </a:p>
          <a:p>
            <a:endParaRPr lang="en-IN" b="1" dirty="0">
              <a:solidFill>
                <a:srgbClr val="7B80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7B809A"/>
                </a:solidFill>
                <a:latin typeface="Roboto" panose="02000000000000000000" pitchFamily="2" charset="0"/>
                <a:cs typeface="Times New Roman" panose="02020603050405020304" pitchFamily="18" charset="0"/>
                <a:hlinkClick r:id="rId3"/>
              </a:rPr>
              <a:t>https://www.interviewquery.com/p/real-estate-data-science-projects</a:t>
            </a:r>
            <a:r>
              <a:rPr lang="en-IN" dirty="0">
                <a:solidFill>
                  <a:srgbClr val="7B809A"/>
                </a:solidFill>
                <a:latin typeface="Roboto" panose="02000000000000000000" pitchFamily="2" charset="0"/>
                <a:cs typeface="Times New Roman" panose="02020603050405020304" pitchFamily="18" charset="0"/>
              </a:rPr>
              <a:t>.</a:t>
            </a:r>
          </a:p>
          <a:p>
            <a:endParaRPr lang="en-IN" b="1" dirty="0">
              <a:solidFill>
                <a:srgbClr val="7B809A"/>
              </a:solidFill>
              <a:latin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7B809A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https://www.youtube.com/watch?v=1JXrxCJoHuw</a:t>
            </a:r>
            <a:endParaRPr lang="en-IN" b="1" dirty="0">
              <a:solidFill>
                <a:srgbClr val="7B80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rgbClr val="7B80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7B809A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https://www.youtube.com/watch?v=VgZZP8rAS-c</a:t>
            </a:r>
            <a:endParaRPr lang="en-IN" b="1" dirty="0">
              <a:solidFill>
                <a:srgbClr val="7B80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rgbClr val="7B80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7B809A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https://www.youtube.com/watch?v=0fT-bqvHD2w</a:t>
            </a:r>
            <a:endParaRPr lang="en-IN" b="1" dirty="0">
              <a:solidFill>
                <a:srgbClr val="7B80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7B80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7B809A"/>
              </a:solidFill>
              <a:latin typeface="Roboto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621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B72DB8-909D-E014-7F3D-342B9CA4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84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1359</Words>
  <Application>Microsoft Office PowerPoint</Application>
  <PresentationFormat>Widescreen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Roboto</vt:lpstr>
      <vt:lpstr>Times New Roman</vt:lpstr>
      <vt:lpstr>Wingdings</vt:lpstr>
      <vt:lpstr>Office Theme</vt:lpstr>
      <vt:lpstr>NextHikes IT Solutions  Project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Borde</dc:creator>
  <cp:lastModifiedBy>Roshan Borde</cp:lastModifiedBy>
  <cp:revision>2</cp:revision>
  <dcterms:created xsi:type="dcterms:W3CDTF">2025-02-12T11:43:12Z</dcterms:created>
  <dcterms:modified xsi:type="dcterms:W3CDTF">2025-02-12T16:46:23Z</dcterms:modified>
</cp:coreProperties>
</file>